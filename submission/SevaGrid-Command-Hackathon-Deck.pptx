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e0754e2267456a" /><Relationship Type="http://schemas.openxmlformats.org/officeDocument/2006/relationships/extended-properties" Target="/docProps/app.xml" Id="R51c30e6d597643fd" /><Relationship Type="http://schemas.openxmlformats.org/officeDocument/2006/relationships/officeDocument" Target="/ppt/presentation.xml" Id="R2cefb8b5c95d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73425ed59e4e03"/>
  </p:sldMasterIdLst>
  <p:notesMasterIdLst>
    <p:notesMasterId xmlns:r="http://schemas.openxmlformats.org/officeDocument/2006/relationships" r:id="Re369655fe8e2482d"/>
  </p:notesMasterIdLst>
  <p:sldIdLst>
    <p:sldId xmlns:r="http://schemas.openxmlformats.org/officeDocument/2006/relationships" id="256" r:id="R1ee44035351b4aec"/>
    <p:sldId xmlns:r="http://schemas.openxmlformats.org/officeDocument/2006/relationships" id="257" r:id="Rdb26243e4085445c"/>
    <p:sldId xmlns:r="http://schemas.openxmlformats.org/officeDocument/2006/relationships" id="258" r:id="R74c60d7b99804ca4"/>
    <p:sldId xmlns:r="http://schemas.openxmlformats.org/officeDocument/2006/relationships" id="259" r:id="R1754f167aaf146c7"/>
    <p:sldId xmlns:r="http://schemas.openxmlformats.org/officeDocument/2006/relationships" id="260" r:id="Rfe589b1f3f91407c"/>
    <p:sldId xmlns:r="http://schemas.openxmlformats.org/officeDocument/2006/relationships" id="261" r:id="Ra40dff60e1ba4596"/>
    <p:sldId xmlns:r="http://schemas.openxmlformats.org/officeDocument/2006/relationships" id="262" r:id="R77b9dd1a2f9e46f8"/>
    <p:sldId xmlns:r="http://schemas.openxmlformats.org/officeDocument/2006/relationships" id="263" r:id="R0cf37da4425440b9"/>
    <p:sldId xmlns:r="http://schemas.openxmlformats.org/officeDocument/2006/relationships" id="264" r:id="R510835eb38f3486a"/>
    <p:sldId xmlns:r="http://schemas.openxmlformats.org/officeDocument/2006/relationships" id="265" r:id="Raab9b026d6434e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53b6a00ab4e46" /><Relationship Type="http://schemas.openxmlformats.org/officeDocument/2006/relationships/slideMaster" Target="/ppt/slideMasters/slideMaster1.xml" Id="R6073425ed59e4e03" /><Relationship Type="http://schemas.openxmlformats.org/officeDocument/2006/relationships/notesMaster" Target="/ppt/notesMasters/notesMaster1.xml" Id="Re369655fe8e2482d" /><Relationship Type="http://schemas.openxmlformats.org/officeDocument/2006/relationships/presProps" Target="/ppt/presProps.xml" Id="R3c1f9de24a0f4ad0" /><Relationship Type="http://schemas.openxmlformats.org/officeDocument/2006/relationships/viewProps" Target="/ppt/viewProps.xml" Id="Rf07e7f63ad8e46b8" /><Relationship Type="http://schemas.openxmlformats.org/officeDocument/2006/relationships/tableStyles" Target="/ppt/tableStyles.xml" Id="R7eb520add73242a2" /><Relationship Type="http://schemas.openxmlformats.org/officeDocument/2006/relationships/slide" Target="/ppt/slides/slide1.xml" Id="R1ee44035351b4aec" /><Relationship Type="http://schemas.openxmlformats.org/officeDocument/2006/relationships/slide" Target="/ppt/slides/slide2.xml" Id="Rdb26243e4085445c" /><Relationship Type="http://schemas.openxmlformats.org/officeDocument/2006/relationships/slide" Target="/ppt/slides/slide3.xml" Id="R74c60d7b99804ca4" /><Relationship Type="http://schemas.openxmlformats.org/officeDocument/2006/relationships/slide" Target="/ppt/slides/slide4.xml" Id="R1754f167aaf146c7" /><Relationship Type="http://schemas.openxmlformats.org/officeDocument/2006/relationships/slide" Target="/ppt/slides/slide5.xml" Id="Rfe589b1f3f91407c" /><Relationship Type="http://schemas.openxmlformats.org/officeDocument/2006/relationships/slide" Target="/ppt/slides/slide6.xml" Id="Ra40dff60e1ba4596" /><Relationship Type="http://schemas.openxmlformats.org/officeDocument/2006/relationships/slide" Target="/ppt/slides/slide7.xml" Id="R77b9dd1a2f9e46f8" /><Relationship Type="http://schemas.openxmlformats.org/officeDocument/2006/relationships/slide" Target="/ppt/slides/slide8.xml" Id="R0cf37da4425440b9" /><Relationship Type="http://schemas.openxmlformats.org/officeDocument/2006/relationships/slide" Target="/ppt/slides/slide9.xml" Id="R510835eb38f3486a" /><Relationship Type="http://schemas.openxmlformats.org/officeDocument/2006/relationships/slide" Target="/ppt/slides/slide10.xml" Id="Raab9b026d6434e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e9f5853c4e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d7d6dd4ac84281" /><Relationship Type="http://schemas.openxmlformats.org/officeDocument/2006/relationships/notesMaster" Target="/ppt/notesMasters/notesMaster1.xml" Id="Rf42338611d3c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737bab8664189" /><Relationship Type="http://schemas.openxmlformats.org/officeDocument/2006/relationships/notesMaster" Target="/ppt/notesMasters/notesMaster1.xml" Id="R153e58c62905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2a3fa5dc9435b" /><Relationship Type="http://schemas.openxmlformats.org/officeDocument/2006/relationships/notesMaster" Target="/ppt/notesMasters/notesMaster1.xml" Id="R4a2598a9d7b540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de1c20f414ff7" /><Relationship Type="http://schemas.openxmlformats.org/officeDocument/2006/relationships/notesMaster" Target="/ppt/notesMasters/notesMaster1.xml" Id="Rbf5160989d8841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785ef9e604d6a" /><Relationship Type="http://schemas.openxmlformats.org/officeDocument/2006/relationships/notesMaster" Target="/ppt/notesMasters/notesMaster1.xml" Id="Rdbfc3b384121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e4b81547844ad4" /><Relationship Type="http://schemas.openxmlformats.org/officeDocument/2006/relationships/notesMaster" Target="/ppt/notesMasters/notesMaster1.xml" Id="R40d4bed74a7e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c1b770756946a9" /><Relationship Type="http://schemas.openxmlformats.org/officeDocument/2006/relationships/notesMaster" Target="/ppt/notesMasters/notesMaster1.xml" Id="R73494f7a29e948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f3b5680787402f" /><Relationship Type="http://schemas.openxmlformats.org/officeDocument/2006/relationships/notesMaster" Target="/ppt/notesMasters/notesMaster1.xml" Id="Rd72954222774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90cbd2fa7a486d" /><Relationship Type="http://schemas.openxmlformats.org/officeDocument/2006/relationships/notesMaster" Target="/ppt/notesMasters/notesMaster1.xml" Id="Rfe4150f0a6bf45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cf55bd61b4380" /><Relationship Type="http://schemas.openxmlformats.org/officeDocument/2006/relationships/notesMaster" Target="/ppt/notesMasters/notesMaster1.xml" Id="Rea4f6a35fdcb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dae7270a7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15c27bad243f0" /><Relationship Type="http://schemas.openxmlformats.org/officeDocument/2006/relationships/slideLayout" Target="/ppt/slideLayouts/slideLayout1.xml" Id="R99adef453366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def453366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648d61cf843d7" /><Relationship Type="http://schemas.openxmlformats.org/officeDocument/2006/relationships/image" Target="/ppt/media/image.png" Id="Rd11c66bac359415b" /><Relationship Type="http://schemas.openxmlformats.org/officeDocument/2006/relationships/notesSlide" Target="/ppt/notesSlides/notesSlide1.xml" Id="R8a82fde5806141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876fd7af74cc9" /><Relationship Type="http://schemas.openxmlformats.org/officeDocument/2006/relationships/notesSlide" Target="/ppt/notesSlides/notesSlide2.xml" Id="R706ce0921646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0d92b38244834" /><Relationship Type="http://schemas.openxmlformats.org/officeDocument/2006/relationships/image" Target="/ppt/media/image2.png" Id="R93e4a693a8e1422a" /><Relationship Type="http://schemas.openxmlformats.org/officeDocument/2006/relationships/notesSlide" Target="/ppt/notesSlides/notesSlide3.xml" Id="R6b5443d9cc8841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7993c0ef04357" /><Relationship Type="http://schemas.openxmlformats.org/officeDocument/2006/relationships/notesSlide" Target="/ppt/notesSlides/notesSlide4.xml" Id="R890c740dedf0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178713eee4d15" /><Relationship Type="http://schemas.openxmlformats.org/officeDocument/2006/relationships/notesSlide" Target="/ppt/notesSlides/notesSlide5.xml" Id="R50423175fd044a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07c37b2784ff7" /><Relationship Type="http://schemas.openxmlformats.org/officeDocument/2006/relationships/notesSlide" Target="/ppt/notesSlides/notesSlide6.xml" Id="Ra41dabe1241148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9345327c0475f" /><Relationship Type="http://schemas.openxmlformats.org/officeDocument/2006/relationships/image" Target="/ppt/media/image3.png" Id="R5211f418ee244f57" /><Relationship Type="http://schemas.openxmlformats.org/officeDocument/2006/relationships/notesSlide" Target="/ppt/notesSlides/notesSlide7.xml" Id="Rfaa752ef7e1c48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edba7d8894493" /><Relationship Type="http://schemas.openxmlformats.org/officeDocument/2006/relationships/notesSlide" Target="/ppt/notesSlides/notesSlide8.xml" Id="R3fc1f66c32f2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5da0b32614d67" /><Relationship Type="http://schemas.openxmlformats.org/officeDocument/2006/relationships/image" Target="/ppt/media/image4.png" Id="R70620c8cb6ba4e0a" /><Relationship Type="http://schemas.openxmlformats.org/officeDocument/2006/relationships/notesSlide" Target="/ppt/notesSlides/notesSlide9.xml" Id="R4ac31b9962124b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512dbc1b7492c" /><Relationship Type="http://schemas.openxmlformats.org/officeDocument/2006/relationships/notesSlide" Target="/ppt/notesSlides/notesSlide10.xml" Id="Rd0a23c2e0c1a45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B2467-5D1C-4B5A-9464-63CE8C72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AE3E2-8E63-439B-A67A-D6835033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09D76-023F-4294-AA11-9E9A18C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F31A5-FF79-4799-B971-4A3E81F4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01132-2634-431B-972F-26DB845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5B208-D91D-422F-88D1-7D6DBA3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941A2-5CED-402F-96D9-3BB701F9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2901E-5570-49EB-86FF-81D5216D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794F3-EFFD-4174-803B-B14F9B70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FE50B-9E2B-48E7-9DCA-CDA72E3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A49D2-0C8E-4CB0-BF9B-FE98965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0DBD2-E77C-4582-8376-D0F90AD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956F-B6C7-4948-BB29-0085465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DE45F-7054-4F06-A519-FDD2167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AA4DA-8867-428B-B472-9BC90FE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077FC-3F75-4707-8DE9-2E6136F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F68BD-4179-4A32-A9D6-A118F762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DD84F-A85A-4E5B-9183-6ECE2930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1F316-E8D1-4097-82DE-0E44786D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32C1C-3560-4530-A9D1-0E625FAC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D572F-8B11-4595-805F-4A66833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093E7-9919-4CEB-B822-BF31541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441E2-0000-4643-BC5D-445416C3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447AC-E6C4-4B1D-A5BC-661EC8F3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F1EB8-5CDC-4FF6-B809-FF022901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88F73-6D58-450F-9BB6-87E2407C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60E0F-D031-4514-8898-616E5DF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B2259-D8ED-46E7-B164-A320BE08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F105D8-98D3-4F7E-B4B9-693927F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B190F-4B1E-4CF6-84CE-F9BBD5A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D866C-A23F-410C-B07E-4764A2E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CD791-2200-4648-B05B-6B1EA513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6EE4C-2250-4A64-8ADC-15717399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72C956-5B5B-4DCE-B1C5-1C7A566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c66bac359415b"/>
          <a:srcRect xmlns:a="http://schemas.openxmlformats.org/drawingml/2006/main" l="0" t="65" r="0" b="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647700"/>
            <a:ext cx="6477000" cy="36385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BBEB19-0D98-4317-BD27-E91451E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7700"/>
            <a:ext cx="6477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D483">
                <a:alpha val="33333"/>
              </a:srgbClr>
            </a:solidFill>
            <a:prstDash val="solid"/>
          </a:ln>
        </p:spPr>
      </p:sp>
      <p:sp>
        <p:nvSpPr>
          <p:cNvPr id="3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5E8E2C-BC82-41E2-B437-2B815CF1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AD6309-2BCA-44D6-9F64-821AE6A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ROUND 2 PRODUCT BUILD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159D44-DDF8-4850-A541-9AC9C69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A live command center for Mahakumbh volunteer deployment.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EF262-0174-48B2-AAB3-BD78CD5E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SevaGrid Command helps operations teams recruit-style model, allocate, monitor, and optimize thousands of volunteers by skills, location, workload, and live incidents.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40321-C107-4C34-B107-12D7E05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4686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373AC6-A403-4072-B450-BF41676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rPr>
              <a:t>65-70%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492D4-BB00-4D11-8970-EE76C92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map-first surface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67ADBA-0EF8-4899-83CE-59496D6F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38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FE995E-042D-4640-97EE-5551E41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00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backend secrets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4335B2-C104-45CC-ABEC-AB3A7D9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A52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A524"/>
                </a:solidFill>
                <a:latin typeface="Aptos Display"/>
                <a:ea typeface="Aptos Display"/>
                <a:cs typeface="Aptos Display"/>
              </a:rPr>
              <a:t>200 OK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3B4A82-2E91-4EBF-97CD-41778F1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live deployment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148E46-6B17-4621-905D-CA757EF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Live: sevagrid-command.vercel.app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246D1E-614F-4701-8157-805C971F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Repo: github.com/AnuranjanJain/Round2-Experthire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FD8B79-663B-417D-B624-FE45263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1E3969-F4AD-44A2-B56F-E0AE8A3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6448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969BF-417E-4C1C-A71C-1A3EF689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E4E0D-8AFB-470F-83F2-16E3343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C8C1F-950F-4A51-A335-AFB1B5D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3D38-86A3-4A9D-BA2C-B74A503A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168EE-52A8-4512-A74E-CB1D23E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5889F-7C5D-4DF8-9D52-16AAC7D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F5079-F706-493A-86C5-C2FA0E0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F1F3C-D7F2-45D3-8602-D4C96C01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A09DE-9791-4FEB-8E0E-FE52241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7DBB4-F6BC-411A-893D-FBB199F8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6E95B-4611-4C15-984C-D5C026A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111DF-EF5F-4C1E-ACDB-09A4302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C9EE2-17CF-4F15-86D2-3CB4728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008F9-2EBF-4265-B8E2-5B362D2E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B8E21-982A-4779-9BC9-E3342E44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0AEA0-0C41-4FB7-8FEF-9D31025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FA50A-8E06-4B1F-BE86-31F01CC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10BB4-26AE-4AF2-90C1-34C9257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0A258-2F53-49DD-95EB-80DA383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32322-4838-4753-A48D-B32A15C4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77A3C-D82F-473F-A7BA-DE7B06D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8BF39-80EC-4F01-BE52-8CAD1278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C645B-A69F-442A-9D29-A4CCD1A4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9D51B-6444-4CF3-A999-9C231D4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C7FF8-268A-4794-A5DC-5F1B76AB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D8E47-6D7B-4706-AEF0-55D32DDD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FA927-CEE4-4ED7-BFF5-284748C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6D228-1009-430A-9B18-F033B810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BA2A5-4D25-450B-B3AA-EBB221AB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3564D-919C-41DE-A584-F15AA305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A0039-004D-42B1-BF16-9493DA2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91F92E-6554-4889-984F-F8E8989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BCB29-F08F-47BA-A369-7E08F89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2AB41-82F0-41DD-BF9C-4A0B846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6D4552-9E52-4F80-82AD-EE0EB3E0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178691-708E-4F4D-BC38-443BEFF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OPERATING PROBLEM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C47DF0-63DD-47A1-8B97-BF57DF61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At Mahakumbh scale, volunteer deployment is a live spatial problem.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C367B-8CA3-481B-9ADA-24F9DF8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Thousands of volunteers may support crowd guidance, medical aid, lost-child response, language queues, water relief, and logistics across fast-changing sectors.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462CC-C0EE-465B-AA0B-658FF35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838200"/>
            <a:ext cx="4267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509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3DAF34-64A8-46EE-A663-BBC5713B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192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7D338-BC08-4634-8D72-3A779F5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382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Who can solve this incident?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BC091E-138F-4725-9EE2-F7BA8DD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23DCA5-B219-42D4-BF9D-3AB00C19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9A1CE-EDDA-4B63-8A19-FC54D60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Who is close enough to move now?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2DBA89-F7BF-44D3-90AA-B581C47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E1FB2C-58A8-48FC-9154-BE0CCFA7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Workload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115AC7-2469-46CC-A8CF-58AF274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Who is available without fatigue risk?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B3E40A-E2CB-475B-A760-81DEEAB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0C5966-940D-486B-92E7-E36FE2E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54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547D"/>
                </a:solidFill>
                <a:latin typeface="Aptos"/>
                <a:ea typeface="Aptos"/>
                <a:cs typeface="Aptos"/>
              </a:rPr>
              <a:t>Demand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4F0239-9861-43CD-A6D9-7C567E7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Which sectors are under-covered?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6FA794-1753-4741-9A31-BE8B907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F549AB-5074-41E6-9BC8-08BFA50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Incidents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C14335-70AF-4949-842D-E0AC60D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What changed in the last minute?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355BFB-0153-470D-8F60-4EB63C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358249-92AF-4DBF-AAB8-9DB17C43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DF6DD9-CED7-430C-A628-9646F65F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Roster spreadsheets separate people from places.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3E7E62-6C5D-4A0F-A069-4B6D8E9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E76DB0-0348-4964-9E3F-602B875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Dashboards show totals but not dispatch decisions.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BF9D70-675D-4C94-81B0-DC06B8A1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BBDB55-9E5D-4AC6-BC92-CBED3573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Operators need explainable recommendations under pressure.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D88F87-AB7B-48ED-B816-C608A71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A9F1FD-939E-4338-93D0-A0F10AC4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3147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438F9-DE5F-4D0B-A9E1-B5FED1C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E4A8B-1BD9-479B-B798-8C599E9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16D10-6886-477C-86B5-43B7021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A06CB-E50D-40BE-8140-05848AA7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428FE-B404-4AF2-BD37-C6A56972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C1C7-943C-43FB-8A2E-96D3A7F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F55E7-5B13-4A60-8B7F-427E47B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94111-20C6-4195-89D0-18D7E99A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C724-B8B3-4042-B10C-7A2ABAC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111C8-5A82-443B-A594-4E6E58E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D5DA0-199B-40B6-A9F8-2FBA7A9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5D0DC-B40C-44B4-887E-1830310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8263B-3F9C-46D7-A49B-6A463CE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B91A9-C2D2-415D-8D59-DDBBFDF8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9AB50-DD73-49E3-9136-0F9D0CE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99560-BE0F-4769-B038-0AC7773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EF82C-DFB1-414C-B694-1B003875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E8566-4558-4706-9A14-2CEAD22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46F72-BC79-4EBD-8120-326C126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7F08E-74EE-467D-8CEA-CF85E510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1492B-B758-47DA-B57E-A71F4C5C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FD3EA-D452-4B92-A989-03A36DCF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045DC-D5CC-4798-B867-3EBBBB1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6282F-CFF8-495C-AA32-08B3C19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6B70D-E04C-4298-8DF0-91A100BF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F4858-69B7-490C-B0E1-8ADB132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1DE1E-052D-4C39-9F94-B3A4329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1C530-B934-446D-917D-F15AE5F4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EA663-AF81-4FBB-B9F7-00116A2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B5117-D3C0-4533-9246-C532264F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DCD1F5-2BA7-4FC5-ACBD-AEE914FE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705CD-F20E-46B4-B0E2-6A018BC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9F73F-231C-467B-8BF8-1573DC64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3EA9C-1873-4B7B-9340-99D3D5C0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4a693a8e1422a"/>
          <a:srcRect xmlns:a="http://schemas.openxmlformats.org/drawingml/2006/main" l="0" t="4386" r="0" b="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62150"/>
            <a:ext cx="7239000" cy="37147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743E1D-4453-4479-9496-71E55B8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05E377-6183-4FD0-9A75-7DAC882C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58E16C-BA24-4D4C-8190-612D3D8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PRODUCT VISION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8206F-62BA-44AE-8189-7167AEBF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628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Every staffing decision should be anchored to the live map.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D12F4-B2F9-4A9F-8438-C286BE6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314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5321AF-B7A9-4A53-8A76-DB986F5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>
              <a:alpha val="14118"/>
            </a:srgbClr>
          </a:solidFill>
          <a:ln xmlns:a="http://schemas.openxmlformats.org/drawingml/2006/main" w="9525">
            <a:solidFill>
              <a:srgbClr val="2DD483">
                <a:alpha val="4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E61C16-8C81-4EA6-BF39-2D53C21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Priority 1: Map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159B67-9F41-4160-8881-90202488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419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The center canvas owns attention. Route lines, nodes, selected sector detail, and incident risk all live in one spatial field.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71808A-80F8-431D-8063-FA2831FA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>
              <a:alpha val="14118"/>
            </a:srgbClr>
          </a:solidFill>
          <a:ln xmlns:a="http://schemas.openxmlformats.org/drawingml/2006/main" w="9525">
            <a:solidFill>
              <a:srgbClr val="24B6D9">
                <a:alpha val="4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B0FF08-6AE6-4FDD-B4F0-B1B59CE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194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Priority 2: AI Dispatch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AF070F-F559-4D7D-945F-D5EB91F9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32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The right panel explains who should move, why they fit, and which risk gap they close.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FADF8-B328-4B01-8745-53938554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>
              <a:alpha val="14118"/>
            </a:srgbClr>
          </a:solidFill>
          <a:ln xmlns:a="http://schemas.openxmlformats.org/drawingml/2006/main" w="9525">
            <a:solidFill>
              <a:srgbClr val="F5A524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F1B5A4-E624-48FE-B2F1-EC7293F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291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Priority 3: Incidents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52F02C-D7D4-4D4E-B873-0DE2F0B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4350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Incidents modify zone risk and assignment urgency instead of floating as admin data.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8409FD-94DA-4B74-8810-7ED50FA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E61625-5A46-462A-AE36-3266418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87634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EEA18-93FD-46D5-91A8-0815E4A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B55EF-4448-47A7-B2E8-54875BAF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4D6E6-142B-47DF-84DC-196E4AD1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6B447-8840-4C6F-ABB4-D766DFE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9F35B-44E9-4457-B5FA-8ACD4E8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95837-D0E8-498A-9DA1-E7DD784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05429-7192-477D-A2F9-907BB137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56895-61E6-4AE8-B186-8C70999A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3578B-2A3E-4BB4-8A14-C2DF90D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9E83E-AA47-4479-8341-A823A47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CA4E2-092F-4994-AD09-3321F659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89871-9970-4881-AAEE-1D23A38F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849E1-8AB9-4922-88BC-00EFC5B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F367B-D191-4E51-9346-1AE949E2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944E0-544E-4815-A507-524431E4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4455D-F4B8-44D8-9D59-9BF1B52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D69ED-8A55-4D2C-9D8B-75BE640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CC57C-EC22-4DE1-8F7D-69CEB5CE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5B0E0-391F-436B-855B-4B33DDC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45054-4DD3-4C3B-A8C7-311042B3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55036-4B06-431C-812F-B0D1438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A15C4-C8BF-49F0-8533-5DB701EF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BF91F-DA58-44FF-869F-E96AAB4F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BA4BA-DE87-450A-96F2-E183725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8010C-9AB0-44BD-A78A-36573BE9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9CF6D-278F-462B-9C23-C8639D1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05B26-D708-4EDC-9DC7-3D853DD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8D2BF-2F77-4BC2-BC47-1F88DDD0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ED831-0E87-48F8-83D0-32D71E9F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8946C-6AD9-495D-8A24-342CC52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8C42F-7686-42A5-BA35-ED71B82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9E69D5-6CBC-4DD4-8D69-AEC2E22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70332A-51A4-46C3-B613-2C4CFF1B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5D4E62-8FD3-462B-804A-141A426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08E88E-7361-4EE2-915D-DE1FA16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EF1378-E5CA-4552-B6B3-D87EDEB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OPERATOR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E0408B-C90F-4318-8EB9-43E9665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From scenario pressure to dispatch recommendation in seconds.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8AE985-A625-4231-956B-91A07B54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509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F0A4EE-4D4D-4A58-A212-CEC6984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080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A84872-259A-4689-BBCA-7CBB8379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Select pressure mode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A8E867-C47D-4A67-BD1D-64CFDD8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Snan Surge, Heat Alert, Missing Person, or Balanced.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B93C82-7145-4AB4-B3CD-C8C1483F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48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842672-6E87-4114-AE9F-82076FDD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509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3A1E0-6C38-4775-BD5A-3D747D1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080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DF70DB-1226-4BE4-A3A0-AAEB78D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Inspect map sector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DF8C33-B7FA-4E5B-930B-0F393DD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8615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Coverage, risk, deployed volunteers, and demand appear in-place.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398A51-4AB1-4B04-A195-6C098B9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DE11DB-6717-4B22-B7C4-49B85EA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509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0AD04C-28AB-44BA-B519-F308B61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080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B39E9F-EF57-4018-8150-87FC4F1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Review AI dispatch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190510-37EC-48E5-8E1B-F10715B3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Recommendations rank by skill fit, proximity, fatigue, and scenario match.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1B7C93-402F-445F-A04C-C89D180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48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1237AF-1448-4CC0-B2E3-E7D2330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509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469932-3D7F-4307-BA3E-507206E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080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A7938C-9AEC-43ED-9B10-F14134B2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Send response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6C63F7-BA52-42DA-99A6-86122A5F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Ticket moves into activity stream and updates operational state.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949A26-A016-44D4-B305-FB342415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Keyboard-first shortcuts support field operators: 1-6 select zones, brackets cycle scenarios, A adds an incident, T toggles timeline.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E1A5B5-C4B6-407F-93F7-C9EB660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DB21CF-36B9-4693-892A-4A0A358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71696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8F942-7BC0-453D-955D-A33D63A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D5F75-DA01-4216-B0F1-08C79A3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E2D7B-080B-4C1F-9F7C-EA85604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01CC1-09AD-4706-8191-87A4BCD1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BCC35-D729-417C-AB52-239F3238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BAB3-B038-4A56-8225-EB3ADC4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CCECD-B9F5-46BC-A498-CB7F770B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DC9C2-C2E0-4725-B195-EE874AC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85A91-A319-457E-9510-ABC55AE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E989F-EC12-4DFF-B272-8300D1F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029E5-B514-4E95-8806-E694B2C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3BA8F-C38B-4C42-A011-0D94EC2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40BF2-2278-4F75-AD7F-5A9AF2D6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D6DBD-0DE4-46AB-AA9F-172710B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EEFF7-9785-4A72-B4F2-196A70AE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2A8F1-599F-4108-98EA-19E3BDF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092D1-9641-4121-B2BF-AA852D1B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1C929-457C-423A-8755-46F4867C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ED711-6AFF-4FF9-AC34-267D43C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A9751-6973-496C-BEB3-821D33F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53EBD-8212-4166-9FA4-2872DCEC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79B66-9FAD-4AA7-8FE4-A498D29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CE370-3E36-4C5F-B7B3-5E2342E1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A4515-61C6-4B00-90FA-0D49ADB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2916B-7743-40A1-B44D-465A450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756D2-C492-4102-9E6E-CEC9F464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C12A0-2F1B-4CD0-95B4-DBC7A50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43FAD-E6EA-4562-9E79-6FA65B7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38D12-273B-433D-A07C-BAF9065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CBE3E-1BCB-4171-8E55-72F5E72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FDCE8-BB9B-4731-A73B-24AADF5B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00367-2B1B-43A5-8E4D-437918C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CE444-14E1-4D86-B220-5D87AB4C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B485F7-B173-4677-9A01-AC4CE77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26A3F4-61EE-416A-915E-1715520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918C6D-20DC-4304-8C43-03107B1B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THEME FIT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A5E59A-3F36-4713-AEA7-64E0528D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The product maps directly to the hackathon workforce optimization brief.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E9A445-0627-45A6-A6A0-EDDD5E7D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984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0000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1755CE-1923-416C-ABFA-57C3FE0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33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A82C3D-2A4F-439A-8361-9242FF8C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Volunteer profiles include skills, languages, fatigue, availability, mobility, and current zone.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C081B5-C5AF-4454-BC58-E670628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984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0000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219011-368A-44D5-B4EA-113B7147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B16E3F-E350-4ECB-BB07-5A8EA9F4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Roster state separates active, bench, protected, training, and resting volunteers.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83CC38-C9E8-49CC-AE2F-D66D9C6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984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0000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6E1C35-C01D-4947-84C5-F9EF547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194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Allocate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7DE865-7793-4CEF-B1C9-A067BC5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194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Optimizer assigns people to under-covered zones based on fit and urgency.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386481-D606-4735-AAD6-0A04E25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984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0000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73BEA1-C88E-4D21-B6C6-CA9C0C3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54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547D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3386E-C277-4C09-9D40-31F70D3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6242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Live map, incident queue, coverage percent, and activity stream show changing operations.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9400F1-72AE-4E74-B981-0746683F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84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80000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6C10B2-F22A-4FBC-8D3C-A4F684E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39B2C0-B8A3-475F-B2B7-96135574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Demand/risk scoring balances coverage, skill gaps, proximity, and fatigue fairness.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A85015-FC7A-4413-B65C-4889EA3A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F1BE2A-89C8-4D41-BF33-212A251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30878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98982-8A37-4438-8E69-8E7C567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E15D9-69DD-4A71-A419-6A4F337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56A28-CC7B-4801-AB85-E9EE741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4D59E-0405-447B-95D1-D8DF3F2A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63368-136F-4ABB-A17D-B25E431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F46E6-CE1C-4EB5-8FAB-71111AD7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9D1D1-A194-4568-8A80-4AFF62EB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F279A-9C9C-4C43-8343-A8E7247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BEDD6-A868-4D56-9535-8F93F8B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4C284-2FA0-4DEF-B5F7-B5EE77D7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39777-2C12-4A4C-BC71-7DD4A017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71FB5-A206-4078-AE19-6DB72A5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69DC3-5AB2-43BD-9A93-D56AAC1A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842E-5A5D-47D5-8C3B-DD9A78E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32515-ADDE-4D6F-BB08-5F717924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A3776-78DF-4676-BC37-FF7BA78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2C87-F595-4B29-9ADC-4706FDF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DABAB-1831-45F9-BFDA-C0CF744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FBFEE-5479-46E8-8BCB-A4131AB3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27FE7-99C5-4F00-8996-F7BF5B9E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5963F-2CE0-4851-BDBE-A927677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A6743-D444-4413-A584-9DA94BD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BA9E8-21FB-43E4-B4A1-0CC18ED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AFDEA-2D95-4E3B-9399-3D1AD64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F2A82-33F9-46E6-BF8E-5BF355FF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B66B2-B319-45AA-8B98-2BA71CF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63140-3FC0-4501-8813-B82CDB22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77B5D-D508-41D6-857F-B3DD17B6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92C7B-E262-408D-AE20-FE7A4B9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6F72F-C0A6-4A96-8DE3-97A428F3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56F39-BA07-4FF8-B825-31CBAE5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AFED9-86B8-479F-838E-DA038D9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F79EFD-3EFD-48DD-9653-77C6E6E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45B60-251E-40D9-815C-6B733116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FF1068-1991-418A-98FE-2D47A75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B272A2-487A-4C71-B055-0C6978D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OPTIMIZER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574D98-8953-4A83-84B9-7405BEEA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SevaGrid ranks deployments with explainable operational signals.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C8B98-7D9D-40C4-ACAA-77E9E4C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>
              <a:alpha val="1411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941E3E-0892-48C9-B7C7-DA0DEAF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Demand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3B3C36-6418-4095-AAB9-3BC3137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crowd, weather, scenario pressure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8AD6A2-D4E2-4D7B-89BA-33197FEB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3EB117-D71F-4441-BD2B-2923331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7D">
              <a:alpha val="1411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AF2787-01D4-4E20-9450-DCA2D0C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DF58C5-3CEB-4FD0-B190-47B97193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priority, incident severity, under-coverage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E52216-F0B9-4B0E-8C88-944EC493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A11C99-CB8D-4EC0-9536-D9821DBE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>
              <a:alpha val="1411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D5926-99E5-4CBC-B98D-D930674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8D5ECC-9694-4D6D-AACF-710F0D3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skills, language, incident match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F4DB62-4600-48C5-AD5E-F3F16449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9770C9-213C-41AB-88DA-582E53C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>
              <a:alpha val="14118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D008B3-28BD-4C3C-B8F7-DA8ABA3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Movement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B74130-9C46-4853-ADE9-BC5F2245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same-zone, adjacent-zone, mobile preference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D35E6D-14D8-45DB-BECB-D5C6D9C3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308491-9B15-48E3-BA0F-645F2896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BB07E9-03F7-42A4-8AFF-1A6919E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Fairness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05F909-6300-4AA5-8C7E-812A3AA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fatigue and shifts worked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5DB900-ACB9-4C1D-8986-D01FB36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606F60-4C7D-481D-8AA9-1DE9427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574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DA2820-36D5-4CBB-BAD4-2FEAC9FE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Deterministic scoring engine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16C617-B7C2-45FC-89E4-3B47AA57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No black-box API is needed for the demo. Judges can inspect `src/optimizer.ts` and trace why every recommendation appears.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EA91B5-825B-4A55-BB97-70EC9B8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64E6A5-AF74-48A5-9C6D-63BC0D5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0">
              <a:alpha val="80000"/>
            </a:srgbClr>
          </a:solidFill>
          <a:ln xmlns:a="http://schemas.openxmlformats.org/drawingml/2006/main" w="9525">
            <a:solidFill>
              <a:srgbClr val="2DD483">
                <a:alpha val="25098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A653AD-9776-4F35-AC2D-15542E4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assignment scores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4DFD96-CBA6-474B-8150-8A562AF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0">
              <a:alpha val="80000"/>
            </a:srgbClr>
          </a:solidFill>
          <a:ln xmlns:a="http://schemas.openxmlformats.org/drawingml/2006/main" w="9525">
            <a:solidFill>
              <a:srgbClr val="2DD483">
                <a:alpha val="25098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DF718D-A38B-43A6-83DB-43667A65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human-readable reasons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949D40-CFB3-40C4-8B22-713FBF54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0">
              <a:alpha val="80000"/>
            </a:srgbClr>
          </a:solidFill>
          <a:ln xmlns:a="http://schemas.openxmlformats.org/drawingml/2006/main" w="9525">
            <a:solidFill>
              <a:srgbClr val="2DD483">
                <a:alpha val="25098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7E377D-1C6C-4B9A-88C2-B2BD7AC7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coverage targets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764ACE-1EA5-49A2-8F1B-26A9A5F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0">
              <a:alpha val="80000"/>
            </a:srgbClr>
          </a:solidFill>
          <a:ln xmlns:a="http://schemas.openxmlformats.org/drawingml/2006/main" w="9525">
            <a:solidFill>
              <a:srgbClr val="2DD483">
                <a:alpha val="25098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E83C59-BDA0-4436-9C5D-FCEC6E8F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missing skills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9B2425-AD12-4226-A3ED-3ABD652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0">
              <a:alpha val="80000"/>
            </a:srgbClr>
          </a:solidFill>
          <a:ln xmlns:a="http://schemas.openxmlformats.org/drawingml/2006/main" w="9525">
            <a:solidFill>
              <a:srgbClr val="2DD483">
                <a:alpha val="25098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9EC395-F93F-4B22-8BE6-D48E0B2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bench and protected lists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49BC35-9B43-434C-9C14-8BE5B4A7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6F7B50-3E0E-4460-A54A-422D1E0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66942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528F5-4972-4923-93B0-9272771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6A4CB-25ED-40D7-9FE4-53ACB4F4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409DC-78DE-4CD6-BDC1-F06BB3CC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9F18-517D-42D8-AB0C-36224531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85C64-8011-4D3C-963D-A9FC7D4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40495-6CC8-4AA2-B2D9-633B1547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DDA09-619E-4250-A5C5-7E36B15C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F7A0B-FBB2-4E50-A7B8-C53F91FF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7EC5-51A5-4547-961F-F5D14500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25205-B48A-4CF5-B2B9-A9EA382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55529-5F96-4078-A453-5495FDC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4D79A-5E29-4660-88DA-DC55613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0F502-F91D-4A4D-A4E4-D083D17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8F22-A70F-4C5F-90C6-AA3B8E2D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92B70-5B63-4155-B490-BDA94C54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A9E1C-B927-4C05-A29D-EC77F9D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D70A5-0F76-42EB-8CEF-E4C2599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BD1BA-5E5F-490D-B5EC-A0A6921A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AAA74-23A3-47AB-8DC3-E58D18E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4FD3A-5900-4BED-AB5A-1CB5B38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F4171-FFAF-4BA8-9F30-DBCB5333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04F75-081C-4945-AA64-C92B24B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749FE-3F05-42F6-BF83-EA42C8E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4CB59-FE2E-4196-B439-868EA26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99799-9D8B-4CD1-815F-6574E1F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B7295-A879-436C-B253-268DF55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5A371-8EDA-4522-ACC6-32B35009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0906F-4022-4C2A-AD00-62A2FEA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23E17-9E9B-4B01-8390-7A98A37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BCD8A-A063-46C0-AF8B-C7EFDB7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27BF6A-2179-4A8F-B9EA-C577F92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9F5ED-4C76-4343-B658-09C8B51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C58DA-7C74-4C51-91AC-F576AB9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E5830-6AD1-475C-9531-8B6AF93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93A1FF-0D83-4B46-A7D4-A6632E30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1B2607-7E43-4CF5-A679-64D83F6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COMMAND EXPERIENCE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7F86D-59B1-4531-AFFF-FCE958B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The interface avoids a dashboard and behaves like race-control software.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1f418ee244f57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71650"/>
            <a:ext cx="7067550" cy="39814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158F71-58AD-4C84-AD3A-3549CEFB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0675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3D558-085A-4C46-88CC-296597D1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2762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577453-78C1-42FA-BF40-57A544A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Map owns attention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9987C-5789-43A7-88E1-0675B84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65-70% viewport target on large screens.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BCDFF8-42F5-4DB3-9DB4-D148B199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Panels attach to 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D893B3-7530-4B90-ACF8-946449C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AI, incident, and volunteer state explain map actions.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BD4AD3-E756-48C5-B8DA-6B11D1CD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Minimal chrome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89EF83-A527-40BA-B091-E8F32F0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Collapsed rail and compact command bar preserve focus.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973D65-16DC-4308-94B1-F04BC21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54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547D"/>
                </a:solidFill>
                <a:latin typeface="Aptos"/>
                <a:ea typeface="Aptos"/>
                <a:cs typeface="Aptos"/>
              </a:rPr>
              <a:t>Operational motion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202F32-341E-4B09-9446-C81195AA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Subtle pulses and route lines show live deployment state.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93427B-0515-43C0-98ED-72F36687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E8C8CC-EFF0-40D9-831A-016ABE3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4459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708B5-6C99-4672-B547-BBAA98C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20DB0-C186-42F1-8FD2-285DB42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2FF13-F6B6-4167-A8E7-D25E4E9A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863D9-8C5E-4485-860C-59B68F7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5935-9F54-499A-92C2-7EC4131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59800-7CAD-4C40-8AB0-4D829EEB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91C7E-2BDB-4849-A4B4-ABAB800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CE0FC-5983-4D64-9090-E0BCFF17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A3D81-FB02-4D96-9DB3-DE5C905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6C149-E3F6-4D0D-81CB-76CD0B3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A7D5B-2BA0-4515-B419-6CDC2767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3205-A7C7-4D8C-8525-FFF628F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8232E-160E-4B6D-B9FE-75CA258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BDC67-C857-45A2-8738-BE511E6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DC473-E286-4086-BD5B-ED5FE4F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7F2EA-0CBC-40A3-B493-6039FB16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8E4EB-FCE6-4F6F-A9F8-78BE4FE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79D6D-99C2-49C6-86D9-5CE0573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E595F-9DC4-48DC-8A66-131A9C8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CF4B0-40C5-4B0A-AA50-4A2CA57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C6295-F63E-48BB-B6FF-334D362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D5AD7-AE84-46DA-AD8F-E267EF03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94D8F-4A43-444D-BE76-71B76C55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40331-C82F-4F71-B85E-C994955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9DC50-7D11-45FF-8B51-065F707C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AD06D-5FAB-4BEE-82F2-39C5C70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AD98B-C29A-4999-B11B-AEAF17F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F3AAA-A774-481E-A369-93DF9640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AE411-6F73-45FF-91EE-C858262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65B9B-78D6-4643-9812-86563EB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01589-E34F-453E-8544-B478E80B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FE7555-12BD-47BD-A05C-0EDA9220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8ACA0-F747-48ED-A165-0B28897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38EBF-FA63-41F7-B3E9-F4182BF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2A236B-D376-4697-B7A4-EC4D4378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ED4294-9996-461B-9DEA-6B4DE56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ARCHITECTURE + SECURITY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7CA70-B4A1-4EA2-848E-17E4A78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A inspectable static app with typed models and production security headers.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16369-55C6-4CEA-A935-FBCC2812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CBABF0-22DA-43A8-9AD9-8838D97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Live Command UI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74AC3-78AD-462F-B0AB-DBC1CE26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145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src/app/page.tsx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FAC1E5-7BFC-4155-B6E5-F2840C8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643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49051B-6E54-45D4-B8A2-EB593D56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Typed Operations 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3A0740-BB2E-4397-B558-723FE1B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003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src/data.ts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C1277F-7E07-498F-8168-90542F1B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01019D-8015-4F59-BCDA-5928EB89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Deployment Optimizer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E5AC13-7026-4402-A83F-0B5DBE6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src/optimizer.ts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E0277E-BCFB-400D-A4FC-F6BF17C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D1A505-3FCE-4B15-849F-D20A50B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43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54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547D"/>
                </a:solidFill>
                <a:latin typeface="Aptos"/>
                <a:ea typeface="Aptos"/>
                <a:cs typeface="Aptos"/>
              </a:rPr>
              <a:t>Design Tokens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66BF8A-D167-46BD-8A5A-E9422713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719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src/app/globals.css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9C6A19-AE25-43F7-9150-F67F563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518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61D589-2700-42DB-B294-43C9F06D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Next/Vercel Runtime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6B3100-908C-4328-A688-6AC9366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577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next.config.ts + HTTPS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D992F8-4C94-4A4B-A71E-2D13400A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952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ACC68D-E0A4-43DE-B325-5C492B5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4"/>
                </a:solidFill>
                <a:latin typeface="Aptos"/>
                <a:ea typeface="Aptos"/>
                <a:cs typeface="Aptos"/>
              </a:rPr>
              <a:t>Security checks documented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692B95-86F7-4040-8DF2-7394F27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A6BFC3-038E-4F97-831D-A116F506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No backend secrets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ADD986-82F0-434E-ABDE-91BE22F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6A53FE-D1EB-4155-BC07-C7A288B4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Synthetic demo data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7376CA-2445-41B9-921D-315B5B2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54E260-E498-4994-982B-4F81201C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71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0 audit vulnerabilities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A109D0-F598-4A18-B5F9-63ADB54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1AAA8D-3414-43A9-87B4-C55E770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CSP + XFO + XCTO headers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4C7080-F57F-4587-B772-6F0098A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AA927E-169E-462A-A161-612B1BE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HTTPS on Vercel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3668C0-A674-4CE7-ABA8-34020D2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10D7D7-A1D7-4F94-AC61-94D97B7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92450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7211D-DB12-440F-8FAD-E2D72E5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FE8D5-EDFE-4CE0-B4FF-22C1BE8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4E815-074E-4ABE-A26A-4A6BE30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097C7-AD09-453D-B962-530CAEC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E924D-A3C8-41C7-99A1-173CBBE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74D5C-CBF1-49A0-8E6D-A80BACC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E0FBD-E271-4E6A-8ADB-CEDD1DEF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78151-E9D4-4A0B-A40F-DEC9031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2F160-DBB2-4394-88A0-628B6D76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676B-752B-4727-A826-4C1E3B3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20A97-D66C-40A7-94EE-6542662F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5DC3D-110D-4613-BC69-6A87BF4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CA200-DF35-4FDD-8108-20EC4B6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AF65C-6047-460B-9DB2-29475CE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1C7E7-791C-4097-889A-D41EFF0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12D69-4499-4E3C-9CD9-D5ACEA6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9400A-106C-47DF-ADFE-0D05CEB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B3291-4B28-4A4A-B823-5E950B0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59F9A-CFD6-41F1-8675-6EFE1F5E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5CA1F-7FFD-4D33-AC9D-D61F426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334DD-A32E-48DF-9196-E7F5B57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E2795-E820-4593-A055-8057BAD2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A9990-A9AC-473A-8820-AD7C20D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4AFD1-E5FA-48C2-B599-0E96DFBB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FA646-7FCE-42A0-A5C6-0B85789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B5888-0EFC-40D9-8321-6A550341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CD1F9-08C4-4975-A633-7C82F40E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204A3-E6A2-4458-A67C-28EEDB3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26572-85DB-4A6D-B515-436EE55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6A08B-DDFC-43E2-AB87-7CB8026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2619E-C6CE-4C66-9EAD-5901E1A1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75572-DEF9-4A08-A622-7CAB4D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F5BABE-1C92-46FD-81BA-E2C2B87A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F676F-FB8B-42DC-AAAD-0301938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D51DF2-696C-4322-ACAF-97C1C38D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CF3766-9CB7-40A7-99C8-E9A6B0E5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AB92F3-C4F3-46C3-BC5E-2B3455B6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The submission is deployed, checked, and honest about remaining test gaps.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459FD-66F1-4DA0-88AE-ED358D1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34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C70144-6169-44D2-AD2F-9B08D377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117A2E-5DB0-4446-A4A7-28AD5FE2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ESLint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629F09-1100-48B0-B2EF-C63B669B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57A001-E03E-42EE-96CD-234E84F8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prod build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DA711A-600E-4995-8C2A-3560C733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83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6C248D-43B4-44E5-9C9E-617FB5DC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audit vulns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D3F162-B217-402F-AFCA-6E9220E8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916B74-674B-480F-9AFE-7A37C19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health check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81520E-1D4C-4BF3-8DCB-7C288A8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B6D9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5B49D0-6311-4149-987E-024FA1EE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sec headers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F70CA-89A9-43A2-A778-632ECC9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0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09B"/>
                </a:solidFill>
                <a:latin typeface="Aptos"/>
                <a:ea typeface="Aptos"/>
                <a:cs typeface="Aptos"/>
              </a:rPr>
              <a:t>Current gap: automated unit, E2E, and axe accessibility tests are documented as future work rather than claimed prematurely.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20c8cb6ba4e0a"/>
          <a:srcRect xmlns:a="http://schemas.openxmlformats.org/drawingml/2006/main" l="0" t="16285" r="0" b="162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885950"/>
            <a:ext cx="2571750" cy="37528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A297B7-3CD3-43E5-B896-A32C106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25717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D483">
                <a:alpha val="3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A87109-3239-4EF9-81DB-33B5B4D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428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Mobile-first responsiveness verified visually with compact command controls and map continuity.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1FBBC7-B14F-4BF5-B349-10D22BE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F2AA85-FD3F-405D-B15B-734544FE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10417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DB4D9-FC1A-4B50-B469-65B5F395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8106-4D47-41F8-A5DD-32EE48E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C1964-2ED9-4229-B3C0-96FDF03E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49010-70AE-480E-83A2-75050CC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6E729-F46C-424A-8C01-659DCC4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8E9BD-4C83-4222-BB88-73322BC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D70ED-B759-42A8-BF51-A2BDF54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283FD-7A2D-46B7-BB0F-1F59712B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9C3E3-F8C3-45C2-BA9D-C52FDC9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A8259-C80A-40C8-A384-E7DBDCD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1ABB6-3724-4B7C-B6EA-80EB49D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7F744-F197-458A-987F-C54EC5F0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4F112-B647-4F1D-A347-AD469B6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B69AE-FB54-4277-9A63-7237F94C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E057E-4E9B-4366-B866-D388EFC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E911A-03D5-4C62-9374-C0474244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340D4-8259-4D7C-854A-37ED9B08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457C7-0C05-4BE7-B1F2-AB2257A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9D53C-03DA-45F1-9F3E-43DF5D2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AFDED-9E22-45A1-9C73-4B3B960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5B6B7-DD37-4E61-BC2C-2CF785D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99419-DA37-4629-AE76-4D9E01B6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FC1E1-AD34-4DBA-B600-421EB307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3AAC8-FBA3-4DCF-83F2-DC76D23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ACFB9-EB1E-45D4-AC78-681CF61C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4A790-6240-4C2B-99E6-74AE452A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C1389-D2CD-4903-954A-7E72560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CCFE8-EB98-4EE5-BE9C-1D35B3D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892F4-0C84-4AE7-BA35-EFCA68E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E0418-1734-4CA0-BA75-608DFC8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0819A-4066-4F30-8866-13E97C80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4A3C13-932E-4A39-8C1D-1A615F0B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010E40-B4E8-448A-88C3-211659E4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694CB9-0F7C-4C5B-8B2A-500BFC2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A129EC-1C23-4D71-9F7A-BF0CCBCD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1D89AC-452A-4068-ADBB-86130D00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1A09B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F7D23-DC4A-4DEA-96AB-7541047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7F4"/>
                </a:solidFill>
                <a:latin typeface="Aptos Display"/>
                <a:ea typeface="Aptos Display"/>
                <a:cs typeface="Aptos Display"/>
              </a:rPr>
              <a:t>From hackathon demo to operational deployment platform.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8AE6E3-DC53-42B7-8507-B7E6E6A1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0CEFA-9ACD-4AA7-BB5A-3C7C3BE0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83">
              <a:alpha val="14118"/>
            </a:srgbClr>
          </a:solidFill>
          <a:ln xmlns:a="http://schemas.openxmlformats.org/drawingml/2006/main" w="9525">
            <a:solidFill>
              <a:srgbClr val="2DD483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9B341A-517A-484B-A27E-4FDB29A7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83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699A5E-4345-4EAE-9BF4-9322778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Map-first command UI, deterministic optimizer, deployed demo, security headers.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8B892A-5809-4E4C-8D95-8F0BB0C6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30408-BCEC-4896-BBF9-A345EE3A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76F468-7005-4B73-B694-77947AF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9">
              <a:alpha val="14118"/>
            </a:srgbClr>
          </a:solidFill>
          <a:ln xmlns:a="http://schemas.openxmlformats.org/drawingml/2006/main" w="9525">
            <a:solidFill>
              <a:srgbClr val="24B6D9">
                <a:alpha val="4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AF0976-0C39-47BA-8B9C-120FF7D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79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B6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B6D9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EB63EE-692E-40FF-8A65-6D15143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Optimizer unit tests, Playwright E2E, axe accessibility automation, CSV volunteer import.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02BA2-0D96-41F4-B943-D72C74A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4B331B-9889-48C3-9A67-53B7077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C49DA5-80E9-4EA3-8419-FF7C82F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>
              <a:alpha val="14118"/>
            </a:srgbClr>
          </a:solidFill>
          <a:ln xmlns:a="http://schemas.openxmlformats.org/drawingml/2006/main" w="9525">
            <a:solidFill>
              <a:srgbClr val="F5A524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B977FA-A22D-464D-947B-79DECE3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479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A5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A524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8240FA-131B-43A7-A49C-81602EC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GIS routing, supervisor acknowledgements, WhatsApp/SMS dispatch, role-based auth.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D78D5F-C896-4E63-B752-56E8B00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492D31-09A7-401D-9C7C-F2009EF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CC4374-B83F-4C22-9572-1E60246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7D">
              <a:alpha val="14118"/>
            </a:srgbClr>
          </a:solidFill>
          <a:ln xmlns:a="http://schemas.openxmlformats.org/drawingml/2006/main" w="9525">
            <a:solidFill>
              <a:srgbClr val="F2547D">
                <a:alpha val="4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BB943A-39D7-4522-BD8B-9C69F136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54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547D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A0111E-CCC6-4A99-B2B1-6831AF3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Real-time check-ins, incident forecasting, privacy review, audit logs, historical analytics.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4619AC-CE22-4A28-B352-7D6473E3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8324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>
              <a:alpha val="9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829869-EC23-4A78-99C2-4CAB21E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D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DD483"/>
                </a:solidFill>
                <a:latin typeface="Aptos"/>
                <a:ea typeface="Aptos"/>
                <a:cs typeface="Aptos"/>
              </a:rPr>
              <a:t>Live deployment: https://sevagrid-command.vercel.app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FF0DED-F778-457D-8812-640BC089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7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2F7F4"/>
                </a:solidFill>
                <a:latin typeface="Aptos"/>
                <a:ea typeface="Aptos"/>
                <a:cs typeface="Aptos"/>
              </a:rPr>
              <a:t>GitHub repository: https://github.com/AnuranjanJain/Round2-Experthire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4A2722-BD6C-4D26-9F96-1BBFDAD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SevaGrid Command | Smart Volunteer Deployment &amp; Workforce Optimization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44BD7A-E7F1-40D6-8503-A6AFE0C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6F6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4457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2026-06-07T13:16:50.3230000Z</dcterms:created>
  <dcterms:modified xsi:type="dcterms:W3CDTF">2026-06-07T13:16:50.3230000Z</dcterms:modified>
</coreProperties>
</file>